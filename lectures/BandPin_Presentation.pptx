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EDDCA-A512-4E38-944B-3870FDFC1B40}" v="8" dt="2026-06-18T08:59:15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43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Rodrigues Barros" userId="adcf66b0af2f8439" providerId="LiveId" clId="{954E52F7-A5B8-42AC-A002-B0780685A88B}"/>
    <pc:docChg chg="custSel addSld modSld">
      <pc:chgData name="Rafael Rodrigues Barros" userId="adcf66b0af2f8439" providerId="LiveId" clId="{954E52F7-A5B8-42AC-A002-B0780685A88B}" dt="2026-06-18T08:59:19.875" v="294" actId="14100"/>
      <pc:docMkLst>
        <pc:docMk/>
      </pc:docMkLst>
      <pc:sldChg chg="delSp mod">
        <pc:chgData name="Rafael Rodrigues Barros" userId="adcf66b0af2f8439" providerId="LiveId" clId="{954E52F7-A5B8-42AC-A002-B0780685A88B}" dt="2026-06-11T09:01:13.315" v="143" actId="478"/>
        <pc:sldMkLst>
          <pc:docMk/>
          <pc:sldMk cId="0" sldId="257"/>
        </pc:sldMkLst>
      </pc:sldChg>
      <pc:sldChg chg="delSp mod">
        <pc:chgData name="Rafael Rodrigues Barros" userId="adcf66b0af2f8439" providerId="LiveId" clId="{954E52F7-A5B8-42AC-A002-B0780685A88B}" dt="2026-06-11T09:01:05.062" v="142" actId="478"/>
        <pc:sldMkLst>
          <pc:docMk/>
          <pc:sldMk cId="0" sldId="258"/>
        </pc:sldMkLst>
      </pc:sldChg>
      <pc:sldChg chg="delSp modSp mod">
        <pc:chgData name="Rafael Rodrigues Barros" userId="adcf66b0af2f8439" providerId="LiveId" clId="{954E52F7-A5B8-42AC-A002-B0780685A88B}" dt="2026-06-11T09:00:59.444" v="141" actId="478"/>
        <pc:sldMkLst>
          <pc:docMk/>
          <pc:sldMk cId="0" sldId="259"/>
        </pc:sldMkLst>
        <pc:spChg chg="mod">
          <ac:chgData name="Rafael Rodrigues Barros" userId="adcf66b0af2f8439" providerId="LiveId" clId="{954E52F7-A5B8-42AC-A002-B0780685A88B}" dt="2026-06-11T08:57:27.461" v="85" actId="20577"/>
          <ac:spMkLst>
            <pc:docMk/>
            <pc:sldMk cId="0" sldId="259"/>
            <ac:spMk id="7" creationId="{00000000-0000-0000-0000-000000000000}"/>
          </ac:spMkLst>
        </pc:spChg>
      </pc:sldChg>
      <pc:sldChg chg="delSp mod">
        <pc:chgData name="Rafael Rodrigues Barros" userId="adcf66b0af2f8439" providerId="LiveId" clId="{954E52F7-A5B8-42AC-A002-B0780685A88B}" dt="2026-06-11T09:00:53.291" v="140" actId="478"/>
        <pc:sldMkLst>
          <pc:docMk/>
          <pc:sldMk cId="0" sldId="260"/>
        </pc:sldMkLst>
      </pc:sldChg>
      <pc:sldChg chg="delSp modSp mod">
        <pc:chgData name="Rafael Rodrigues Barros" userId="adcf66b0af2f8439" providerId="LiveId" clId="{954E52F7-A5B8-42AC-A002-B0780685A88B}" dt="2026-06-18T08:42:10.407" v="214" actId="313"/>
        <pc:sldMkLst>
          <pc:docMk/>
          <pc:sldMk cId="0" sldId="261"/>
        </pc:sldMkLst>
        <pc:spChg chg="mod">
          <ac:chgData name="Rafael Rodrigues Barros" userId="adcf66b0af2f8439" providerId="LiveId" clId="{954E52F7-A5B8-42AC-A002-B0780685A88B}" dt="2026-06-18T08:42:10.407" v="214" actId="313"/>
          <ac:spMkLst>
            <pc:docMk/>
            <pc:sldMk cId="0" sldId="261"/>
            <ac:spMk id="7" creationId="{00000000-0000-0000-0000-000000000000}"/>
          </ac:spMkLst>
        </pc:spChg>
      </pc:sldChg>
      <pc:sldChg chg="delSp modSp mod">
        <pc:chgData name="Rafael Rodrigues Barros" userId="adcf66b0af2f8439" providerId="LiveId" clId="{954E52F7-A5B8-42AC-A002-B0780685A88B}" dt="2026-06-18T08:45:00.547" v="291" actId="122"/>
        <pc:sldMkLst>
          <pc:docMk/>
          <pc:sldMk cId="0" sldId="262"/>
        </pc:sldMkLst>
        <pc:spChg chg="mod">
          <ac:chgData name="Rafael Rodrigues Barros" userId="adcf66b0af2f8439" providerId="LiveId" clId="{954E52F7-A5B8-42AC-A002-B0780685A88B}" dt="2026-06-18T08:43:28.553" v="232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Rafael Rodrigues Barros" userId="adcf66b0af2f8439" providerId="LiveId" clId="{954E52F7-A5B8-42AC-A002-B0780685A88B}" dt="2026-06-18T08:45:00.547" v="291" actId="122"/>
          <ac:spMkLst>
            <pc:docMk/>
            <pc:sldMk cId="0" sldId="262"/>
            <ac:spMk id="11" creationId="{00000000-0000-0000-0000-000000000000}"/>
          </ac:spMkLst>
        </pc:spChg>
      </pc:sldChg>
      <pc:sldChg chg="delSp mod">
        <pc:chgData name="Rafael Rodrigues Barros" userId="adcf66b0af2f8439" providerId="LiveId" clId="{954E52F7-A5B8-42AC-A002-B0780685A88B}" dt="2026-06-11T09:00:36.452" v="137" actId="478"/>
        <pc:sldMkLst>
          <pc:docMk/>
          <pc:sldMk cId="0" sldId="263"/>
        </pc:sldMkLst>
      </pc:sldChg>
      <pc:sldChg chg="addSp delSp mod">
        <pc:chgData name="Rafael Rodrigues Barros" userId="adcf66b0af2f8439" providerId="LiveId" clId="{954E52F7-A5B8-42AC-A002-B0780685A88B}" dt="2026-06-11T09:01:28.079" v="144" actId="478"/>
        <pc:sldMkLst>
          <pc:docMk/>
          <pc:sldMk cId="0" sldId="264"/>
        </pc:sldMkLst>
      </pc:sldChg>
      <pc:sldChg chg="delSp mod">
        <pc:chgData name="Rafael Rodrigues Barros" userId="adcf66b0af2f8439" providerId="LiveId" clId="{954E52F7-A5B8-42AC-A002-B0780685A88B}" dt="2026-06-11T08:59:22.792" v="128" actId="478"/>
        <pc:sldMkLst>
          <pc:docMk/>
          <pc:sldMk cId="0" sldId="265"/>
        </pc:sldMkLst>
      </pc:sldChg>
      <pc:sldChg chg="delSp mod">
        <pc:chgData name="Rafael Rodrigues Barros" userId="adcf66b0af2f8439" providerId="LiveId" clId="{954E52F7-A5B8-42AC-A002-B0780685A88B}" dt="2026-06-11T08:59:29.171" v="129" actId="478"/>
        <pc:sldMkLst>
          <pc:docMk/>
          <pc:sldMk cId="0" sldId="266"/>
        </pc:sldMkLst>
      </pc:sldChg>
      <pc:sldChg chg="delSp modSp mod">
        <pc:chgData name="Rafael Rodrigues Barros" userId="adcf66b0af2f8439" providerId="LiveId" clId="{954E52F7-A5B8-42AC-A002-B0780685A88B}" dt="2026-06-11T09:35:04.049" v="207" actId="20577"/>
        <pc:sldMkLst>
          <pc:docMk/>
          <pc:sldMk cId="0" sldId="267"/>
        </pc:sldMkLst>
        <pc:spChg chg="mod">
          <ac:chgData name="Rafael Rodrigues Barros" userId="adcf66b0af2f8439" providerId="LiveId" clId="{954E52F7-A5B8-42AC-A002-B0780685A88B}" dt="2026-06-11T09:35:04.049" v="207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">
        <pc:chgData name="Rafael Rodrigues Barros" userId="adcf66b0af2f8439" providerId="LiveId" clId="{954E52F7-A5B8-42AC-A002-B0780685A88B}" dt="2026-06-11T08:59:41.576" v="131" actId="478"/>
        <pc:sldMkLst>
          <pc:docMk/>
          <pc:sldMk cId="0" sldId="268"/>
        </pc:sldMkLst>
      </pc:sldChg>
      <pc:sldChg chg="delSp mod">
        <pc:chgData name="Rafael Rodrigues Barros" userId="adcf66b0af2f8439" providerId="LiveId" clId="{954E52F7-A5B8-42AC-A002-B0780685A88B}" dt="2026-06-11T08:59:47.288" v="132" actId="478"/>
        <pc:sldMkLst>
          <pc:docMk/>
          <pc:sldMk cId="0" sldId="269"/>
        </pc:sldMkLst>
      </pc:sldChg>
      <pc:sldChg chg="delSp mod">
        <pc:chgData name="Rafael Rodrigues Barros" userId="adcf66b0af2f8439" providerId="LiveId" clId="{954E52F7-A5B8-42AC-A002-B0780685A88B}" dt="2026-06-11T08:59:53.125" v="133" actId="478"/>
        <pc:sldMkLst>
          <pc:docMk/>
          <pc:sldMk cId="0" sldId="270"/>
        </pc:sldMkLst>
      </pc:sldChg>
      <pc:sldChg chg="delSp mod">
        <pc:chgData name="Rafael Rodrigues Barros" userId="adcf66b0af2f8439" providerId="LiveId" clId="{954E52F7-A5B8-42AC-A002-B0780685A88B}" dt="2026-06-11T08:59:57.703" v="134" actId="478"/>
        <pc:sldMkLst>
          <pc:docMk/>
          <pc:sldMk cId="0" sldId="271"/>
        </pc:sldMkLst>
      </pc:sldChg>
      <pc:sldChg chg="delSp modSp mod">
        <pc:chgData name="Rafael Rodrigues Barros" userId="adcf66b0af2f8439" providerId="LiveId" clId="{954E52F7-A5B8-42AC-A002-B0780685A88B}" dt="2026-06-18T08:59:19.875" v="294" actId="14100"/>
        <pc:sldMkLst>
          <pc:docMk/>
          <pc:sldMk cId="0" sldId="272"/>
        </pc:sldMkLst>
        <pc:spChg chg="mod">
          <ac:chgData name="Rafael Rodrigues Barros" userId="adcf66b0af2f8439" providerId="LiveId" clId="{954E52F7-A5B8-42AC-A002-B0780685A88B}" dt="2026-06-18T08:59:19.875" v="294" actId="14100"/>
          <ac:spMkLst>
            <pc:docMk/>
            <pc:sldMk cId="0" sldId="272"/>
            <ac:spMk id="7" creationId="{00000000-0000-0000-0000-000000000000}"/>
          </ac:spMkLst>
        </pc:spChg>
      </pc:sldChg>
      <pc:sldChg chg="addSp delSp modSp add mod setBg">
        <pc:chgData name="Rafael Rodrigues Barros" userId="adcf66b0af2f8439" providerId="LiveId" clId="{954E52F7-A5B8-42AC-A002-B0780685A88B}" dt="2026-06-11T09:02:44.903" v="150" actId="1076"/>
        <pc:sldMkLst>
          <pc:docMk/>
          <pc:sldMk cId="3867317336" sldId="274"/>
        </pc:sldMkLst>
        <pc:spChg chg="mod">
          <ac:chgData name="Rafael Rodrigues Barros" userId="adcf66b0af2f8439" providerId="LiveId" clId="{954E52F7-A5B8-42AC-A002-B0780685A88B}" dt="2026-06-11T08:58:33.501" v="116" actId="20577"/>
          <ac:spMkLst>
            <pc:docMk/>
            <pc:sldMk cId="3867317336" sldId="274"/>
            <ac:spMk id="5" creationId="{E5832AE9-54EF-FED8-E146-9030D5CF170D}"/>
          </ac:spMkLst>
        </pc:spChg>
        <pc:picChg chg="add mod">
          <ac:chgData name="Rafael Rodrigues Barros" userId="adcf66b0af2f8439" providerId="LiveId" clId="{954E52F7-A5B8-42AC-A002-B0780685A88B}" dt="2026-06-11T09:02:44.903" v="150" actId="1076"/>
          <ac:picMkLst>
            <pc:docMk/>
            <pc:sldMk cId="3867317336" sldId="274"/>
            <ac:picMk id="15" creationId="{4C61C3E4-0C70-6763-9E7E-2E3434AEC7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86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B0B2-4346-C5BA-3372-8AA9F5BA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39B56-8C40-4547-7100-E5664A172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144E8-59D8-02A4-0384-216FB58FB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8C86B-1A05-C090-1EF8-2F9B6DB74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5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146304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41248" y="3108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6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haptic, eyes-free PIN entry via two capacitive strips on a smartwatch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CasePin — building on CaseTouch (Stanke et al., MUM ’24) and MultiBand (Petersen, Reuter &amp; Böhmer, CHI EA ’26)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4846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· Summer 2026   ·   moxd lab   ·   Prof. Dr. Matthias Böhmer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Rafael &amp; Mahyar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CasePin to BandPin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834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gap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8680" y="388620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937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concept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 &amp; multi-device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355080" y="283464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2834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analysis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55080" y="4937760"/>
            <a:ext cx="502920" cy="502920"/>
          </a:xfrm>
          <a:prstGeom prst="ellipse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4937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CasePin to BandPin — what changed and why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257800" cy="356616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CasePin (previous meetings)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the primary goal: shoulder-surfing resistance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zone mappings to defeat observation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problem: how does the user know the mapping without the display?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18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BandPin (this proposal)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learnability as the primary goal — following the feedback from our last meeting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layout + haptic guidance: vibration ticks replace the display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remains as a secondary, measured aspect — not the headline claim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 lineage, same motivation — the question matured from “is it more secure?” to “can people actually learn and use it without the display?”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smartwatch input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 screens are tiny: small targets, the “fat-finger” problem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 occludes the display during input — it covers what it controls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demands visual attention on a device meant for glances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is shown on screen is visible to bystanders — input and output share one exposed surface.</a:t>
            </a:r>
          </a:p>
        </p:txBody>
      </p:sp>
      <p:sp>
        <p:nvSpPr>
          <p:cNvPr id="8" name="Shape 6"/>
          <p:cNvSpPr/>
          <p:nvPr/>
        </p:nvSpPr>
        <p:spPr>
          <a:xfrm>
            <a:off x="7818120" y="1783080"/>
            <a:ext cx="3703320" cy="36576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A81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046720" y="25146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part of the interaction move from the small display to the watch itself — guided by touch and vibration instead of vision?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· 1 /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input off the display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moxd lab has progressively moved input across the watch — the wristband is the current frontier.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29000" cy="10972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MultiBezel — Reuter et al., CHI EA ’25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Multi-touch on the bezel to control music, eyes-free.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2148840"/>
            <a:ext cx="3429000" cy="109728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CaseTouch — Stanke et al., MUM ’24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Occlusion-free touch via a thin sensor stripe on the case. Origin of our idea.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0" y="2148840"/>
            <a:ext cx="3429000" cy="1097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MultiBand — Petersen, Reuter &amp; Böhmer, CHI EA ’26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532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Multi-touch along the band (Trill Flex + ESP32). Our direct predecessor.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· 2 /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Eyes-free entry, haptics &amp; observation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WatchIt (Perrault et al., CHI ’13): </a:t>
            </a: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eyes-free strap gestures — selection under 800 ms at ~10% error while mobile. Eyes-free band input is viable and measurable.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WRISTBAND.IO (Saviot, Brudy &amp; Houben, CHI EA ’17): </a:t>
            </a: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band controls raise accuracy for small targets — physical guidance helps where vision is scarce.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BandSense (Ahn et al., CHI EA ’15): </a:t>
            </a: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pressure-based two-sensor band with a number-entry app — concept demo, no learnability study.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Hengartner &amp; Vogel (CHI ’18): </a:t>
            </a:r>
            <a:r>
              <a:rPr lang="en-US" sz="16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PIN entry leaks to observers even with common defenses (e.g. tilting) — the secondary motivation for keeping digits off the display.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u="sng" dirty="0"/>
              <a:t>Wolf, Aviv &amp; Kuber (JISA 2018), „It's all about the start"</a:t>
            </a:r>
            <a:r>
              <a:rPr lang="en-US" sz="1600" u="sng" dirty="0"/>
              <a:t>: </a:t>
            </a:r>
            <a:r>
              <a:rPr lang="en-US" sz="1600" u="sng" dirty="0" err="1"/>
              <a:t>kontrollierte</a:t>
            </a:r>
            <a:r>
              <a:rPr lang="en-US" sz="1600" u="sng" dirty="0"/>
              <a:t> Within-Subjects-Studie, 26 </a:t>
            </a:r>
            <a:r>
              <a:rPr lang="en-US" sz="1600" u="sng" dirty="0" err="1"/>
              <a:t>Teilnehmende</a:t>
            </a:r>
            <a:r>
              <a:rPr lang="en-US" sz="1600" u="sng" dirty="0"/>
              <a:t>, PIN- und Muster-</a:t>
            </a:r>
            <a:r>
              <a:rPr lang="en-US" sz="1600" u="sng" dirty="0" err="1"/>
              <a:t>Eingabe</a:t>
            </a:r>
            <a:r>
              <a:rPr lang="en-US" sz="1600" u="sng" dirty="0"/>
              <a:t> </a:t>
            </a:r>
            <a:r>
              <a:rPr lang="en-US" sz="1600" u="sng" dirty="0" err="1"/>
              <a:t>blickfrei</a:t>
            </a:r>
            <a:r>
              <a:rPr lang="en-US" sz="1600" u="sng" dirty="0"/>
              <a:t> vs. </a:t>
            </a:r>
            <a:r>
              <a:rPr lang="en-US" sz="1600" u="sng" dirty="0" err="1"/>
              <a:t>mit</a:t>
            </a:r>
            <a:r>
              <a:rPr lang="en-US" sz="1600" u="sng" dirty="0"/>
              <a:t> Sicht. Sie </a:t>
            </a:r>
            <a:r>
              <a:rPr lang="en-US" sz="1600" u="sng" dirty="0" err="1"/>
              <a:t>testeten</a:t>
            </a:r>
            <a:r>
              <a:rPr lang="en-US" sz="1600" u="sng" dirty="0"/>
              <a:t>, </a:t>
            </a:r>
            <a:r>
              <a:rPr lang="en-US" sz="1600" u="sng" dirty="0" err="1"/>
              <a:t>ob</a:t>
            </a:r>
            <a:r>
              <a:rPr lang="en-US" sz="1600" u="sng" dirty="0"/>
              <a:t> </a:t>
            </a:r>
            <a:r>
              <a:rPr lang="en-US" sz="1600" b="1" u="sng" dirty="0" err="1"/>
              <a:t>taktiles</a:t>
            </a:r>
            <a:r>
              <a:rPr lang="en-US" sz="1600" b="1" u="sng" dirty="0"/>
              <a:t> Feedback</a:t>
            </a:r>
            <a:r>
              <a:rPr lang="en-US" sz="1600" u="sng" dirty="0"/>
              <a:t> die </a:t>
            </a:r>
            <a:r>
              <a:rPr lang="en-US" sz="1600" u="sng" dirty="0" err="1"/>
              <a:t>räumliche</a:t>
            </a:r>
            <a:r>
              <a:rPr lang="en-US" sz="1600" u="sng" dirty="0"/>
              <a:t> </a:t>
            </a:r>
            <a:r>
              <a:rPr lang="en-US" sz="1600" u="sng" dirty="0" err="1"/>
              <a:t>Orientierung</a:t>
            </a:r>
            <a:r>
              <a:rPr lang="en-US" sz="1600" u="sng" dirty="0"/>
              <a:t> </a:t>
            </a:r>
            <a:r>
              <a:rPr lang="en-US" sz="1600" u="sng" dirty="0" err="1"/>
              <a:t>unterstützt</a:t>
            </a:r>
            <a:r>
              <a:rPr lang="en-US" sz="1600" u="sng" dirty="0"/>
              <a:t>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i="1" dirty="0"/>
              <a:t>“</a:t>
            </a:r>
            <a:r>
              <a:rPr lang="en-US" sz="1600" i="1" dirty="0" err="1"/>
              <a:t>Ist</a:t>
            </a:r>
            <a:r>
              <a:rPr lang="en-US" sz="1600" i="1" dirty="0"/>
              <a:t> das nicht </a:t>
            </a:r>
            <a:r>
              <a:rPr lang="en-US" sz="1600" i="1" dirty="0" err="1"/>
              <a:t>schon</a:t>
            </a:r>
            <a:r>
              <a:rPr lang="en-US" sz="1600" i="1" dirty="0"/>
              <a:t> </a:t>
            </a:r>
            <a:r>
              <a:rPr lang="en-US" sz="1600" i="1" dirty="0" err="1"/>
              <a:t>gemacht</a:t>
            </a:r>
            <a:r>
              <a:rPr lang="en-US" sz="1600" i="1" dirty="0"/>
              <a:t> </a:t>
            </a:r>
            <a:r>
              <a:rPr lang="en-US" sz="1600" i="1" dirty="0" err="1"/>
              <a:t>worden</a:t>
            </a:r>
            <a:r>
              <a:rPr lang="en-US" sz="1600" i="1" dirty="0"/>
              <a:t>?"</a:t>
            </a:r>
            <a:r>
              <a:rPr lang="en-US" sz="1600" dirty="0"/>
              <a:t> → </a:t>
            </a:r>
            <a:r>
              <a:rPr lang="en-US" sz="1600" dirty="0" err="1"/>
              <a:t>Eingabe</a:t>
            </a:r>
            <a:r>
              <a:rPr lang="en-US" sz="1600" dirty="0"/>
              <a:t> ja, </a:t>
            </a:r>
            <a:r>
              <a:rPr lang="en-US" sz="1600" dirty="0" err="1"/>
              <a:t>aber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</a:t>
            </a:r>
            <a:r>
              <a:rPr lang="en-US" sz="1600" dirty="0" err="1"/>
              <a:t>statische</a:t>
            </a:r>
            <a:r>
              <a:rPr lang="en-US" sz="1600" dirty="0"/>
              <a:t> </a:t>
            </a:r>
            <a:r>
              <a:rPr lang="en-US" sz="1600" dirty="0" err="1"/>
              <a:t>Vorab-Orientierung</a:t>
            </a:r>
            <a:r>
              <a:rPr lang="en-US" sz="1600" dirty="0"/>
              <a:t> und </a:t>
            </a:r>
            <a:r>
              <a:rPr lang="en-US" sz="1600" dirty="0" err="1"/>
              <a:t>ohne</a:t>
            </a:r>
            <a:r>
              <a:rPr lang="en-US" sz="1600" dirty="0"/>
              <a:t> </a:t>
            </a:r>
            <a:r>
              <a:rPr lang="en-US" sz="1600" dirty="0" err="1"/>
              <a:t>Erlernbarkeitsmessung</a:t>
            </a:r>
            <a:r>
              <a:rPr lang="en-US" sz="1600" dirty="0"/>
              <a:t> am Band. </a:t>
            </a:r>
            <a:r>
              <a:rPr lang="en-US" sz="1600" dirty="0" err="1"/>
              <a:t>Bewegungsgekoppelte</a:t>
            </a:r>
            <a:r>
              <a:rPr lang="en-US" sz="1600" dirty="0"/>
              <a:t> Ticks + </a:t>
            </a:r>
            <a:r>
              <a:rPr lang="en-US" sz="1600" dirty="0" err="1"/>
              <a:t>Lernkurve</a:t>
            </a:r>
            <a:r>
              <a:rPr lang="en-US" sz="1600" dirty="0"/>
              <a:t> </a:t>
            </a:r>
            <a:r>
              <a:rPr lang="en-US" sz="1600" dirty="0" err="1"/>
              <a:t>sind</a:t>
            </a:r>
            <a:r>
              <a:rPr lang="en-US" sz="1600" dirty="0"/>
              <a:t> </a:t>
            </a:r>
            <a:r>
              <a:rPr lang="en-US" sz="1600" dirty="0" err="1"/>
              <a:t>offen</a:t>
            </a:r>
            <a:r>
              <a:rPr lang="en-US" sz="1600" dirty="0"/>
              <a:t>.</a:t>
            </a:r>
            <a:endParaRPr lang="en-US" sz="1600" u="sng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76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MultiBand opened — still unwalked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8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quantitative analysis on how well participants performed was done.”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MultiBand (Petersen, Reuter &amp; Böhmer, CHI EA ’26)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quantitative performance or learnability data — only preliminary, qualitative tests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band segment; two segments proposed as future work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PIN-like input named as a possible application, but never built or evaluated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nobody has paired the strips with haptic guidance for eyes-free entry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881360" cy="868680"/>
          </a:xfrm>
          <a:prstGeom prst="rect">
            <a:avLst/>
          </a:prstGeom>
          <a:solidFill>
            <a:srgbClr val="3A1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BandPin: two strips + haptic guidance + a learnability study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central question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881360" cy="16002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728" cy="160020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users effectively learn haptic, eyes-free PIN entry via two capacitive strips on a smartwatch — how do speed, accuracy and display dependence develop with practice — and does shifting input off the screen also reduce the information exposed to observers?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focus: learnability &amp; display dependence (interaction).  Secondary: observable information (security) — measured, not claimed.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SQ1 — How accurately and quickly can users enter digits guided only by haptic ticks?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SQ2 — How does performance develop across practice blocks (learning curve)?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SQ3 — Does performance survive removing the display entirely (eyes-free transfer)?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SQ4 — How do workload (NASA-TLX) and perceived privacy compare to the touchscreen?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A84B-4CCE-6AFB-469B-278ACE0E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5CBAF2-EA7B-DBD3-2057-F3FD702DD280}"/>
              </a:ext>
            </a:extLst>
          </p:cNvPr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AE9F40-ABE3-9547-69E7-2AB4A89DFD77}"/>
              </a:ext>
            </a:extLst>
          </p:cNvPr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F53E81-413B-4704-7420-2EA84D696C69}"/>
              </a:ext>
            </a:extLst>
          </p:cNvPr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832AE9-54EF-FED8-E146-9030D5CF170D}"/>
              </a:ext>
            </a:extLst>
          </p:cNvPr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ESIGN IDEA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FC9E931-F092-1468-76A8-BD45BB4728D1}"/>
              </a:ext>
            </a:extLst>
          </p:cNvPr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61C3E4-0C70-6763-9E7E-2E3434AE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5800"/>
            <a:ext cx="10170367" cy="534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1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CONCEPT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digit is entered — by feel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023360" cy="397764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5 + 5 zones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46888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1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81912" y="246888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1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81912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03704" y="246888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1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03704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25496" y="246888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1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25496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47288" y="246888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1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47288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 (top of wrist) — digits 0–4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352044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581912" y="352044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81912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03704" y="352044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03704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825496" y="352044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25496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47288" y="3520440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47288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B (palm side) — digits 5–9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4572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along a strip: one vibration tick per zone boundary. Start is fixed (0 / 5) → counting ticks gives the position, no display needed.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vocabulary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074920" y="2377440"/>
            <a:ext cx="169164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23774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9440" y="2377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the strip — a haptic tick marks each zone crossed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74920" y="3090672"/>
            <a:ext cx="1691640" cy="566928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309067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949440" y="30906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current digit (frequent action → cheapest gesture)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74920" y="3803904"/>
            <a:ext cx="169164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74920" y="380390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~2 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949440" y="38039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last digit (rare action → deliberate gesture)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74920" y="4517136"/>
            <a:ext cx="1691640" cy="566928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451713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digit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949440" y="45171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 — no separate confirm button needed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074920" y="5230368"/>
            <a:ext cx="169164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52303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2 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49440" y="5230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segment ends; next contact restarts at 0 / 5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074920" y="589788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practice, users can jump directly to memorized positions — the learning effect we measure. Gesture parameters (tap window, timeout) are pilot-tested.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Falsifiable, defined before data collection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868680" cy="7772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508760" y="1783080"/>
            <a:ext cx="10012680" cy="77724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1783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time and error rate on BandPin decrease significantly across practice blocks (learning effect).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868680" cy="7772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508760" y="2770632"/>
            <a:ext cx="10012680" cy="77724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277063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practice, accuracy is maintained with the display fully removed (eyes-free transfer).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868680" cy="7772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508760" y="3758184"/>
            <a:ext cx="10012680" cy="77724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83080" y="3758184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workload (NASA-TLX) for BandPin decreases with practice; touchscreen stays flat.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868680" cy="7772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45736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08760" y="4745736"/>
            <a:ext cx="10012680" cy="77724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474573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privacy is rated higher for BandPin than for touchscreen entry (secondary aspect).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BandPin is faster than the touchscreen — the question is whether it is learnable and usable with less display dependence.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A818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 Flex × 2</a:t>
            </a:r>
            <a:endParaRPr lang="en-US" sz="17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 the band: strip A top (0–4) + strip B palm side (5–9)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9204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A818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7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both strips, zone detection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23774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A818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Watch 4</a:t>
            </a:r>
            <a:endParaRPr lang="en-US" sz="17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 + dots UI + trial logger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24688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840480" y="21488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0920" y="2468880"/>
            <a:ext cx="960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86600" y="2148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· GATT Notify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4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eyes-free 4-digit entry — the screen shows only  ● ● ● ●, every zone crossing felt as a tick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status: </a:t>
            </a:r>
            <a:r>
              <a:rPr lang="en-US" sz="14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decided — end-to-end on the band, strips on opposite sides of the wrist (no cross-talk) · gesture parameters via pilot · unique I²C address for strip B.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EXPERIENCE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Brudy et al.’s six dimensions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Taxonomy (Brudy et al., CHI ’19)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91440" cy="1143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41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Synchronous: strip touch → haptic feedback on the watch in real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91440" cy="11430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441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UI: input on the strip node, output (haptics + dots) on the watch.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264408"/>
            <a:ext cx="91440" cy="114300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374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7398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user, multiple devices: sensor node + watch acting in concert.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264408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3264408"/>
            <a:ext cx="91440" cy="1143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374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7398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device endpoints today; extensible to phone / IoT unlock targets.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62856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562856"/>
            <a:ext cx="91440" cy="11430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50383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/ mobile: fully wearable, no fixed infrastructure.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4562856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91440" cy="114300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50383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on the body; remote authorization is future work.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spans 2 distinct device types (ESP32 sensor node + Wear OS watch) communicating over BLE.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learnability study — the data MultiBand omitted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within-subjects — technique (touchscreen vs. BandPin) × practice block; order counterbalanced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enter 4-digit codes, fixed layout; BandPin guided by haptic ticks + dots only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Eyes-free transfer phase: final BandPin blocks run with the display fully covered (SQ3 / H2)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(exploratory): perceived-privacy ratings; optional small observer task on video recordings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12–18 · informed consent · ethics self-check · ~35 min per session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grounded in the WatchIt / CaseTouch tradition: within-subjects, measured time + error on comparable hardware.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log — and the step-by-step plan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206240" cy="416052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computed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CSV: one row per touch (timestamps, zone, correct, corrected)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time per digit &amp; per code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corrected vs. uncorrected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Eyes-free success rate (covered display)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+ perceived privacy + preference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178308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Aggregate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169164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/ mean error per participant × condition × block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386584"/>
            <a:ext cx="1783080" cy="566928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238658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Describe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3865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± 95% CI; learning curves — plots first, always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3081528"/>
            <a:ext cx="178308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308152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30815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Shapiro–Wilk · Mauchly → Greenhouse–Geisser if violated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776472"/>
            <a:ext cx="1783080" cy="566928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37764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7764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RM-ANOVA technique × block — ART / Friedman if non-normal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4471416"/>
            <a:ext cx="1783080" cy="566928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447141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Compare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44714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Holm-corrected post-hocs; power-law learning rate per condition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5166360"/>
            <a:ext cx="1783080" cy="566928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516636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51663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always: η²p, Cohen’s d, Kendall’s 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pingouin, scipy) · ART via R ARTool if needed · scripts + data on GitHub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done — and what hasn’t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7856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Haptic guidance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Eyes-free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Learnability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1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CaseTouch ’24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MultiBezel ’25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MultiBand ’26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WatchIt ’13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WRISTBAND.IO ’17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 ’14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BandSense ’15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81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BandPin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818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 ~ partial    – no        →  Only BandPin combines all six. That conjunction is our contribution.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BandPin brings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learnability &amp; performance data for haptic-guided, eyes-free numeric entry on smartwatch strips — the quantitative study MultiBand called for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haptic interaction vocabulary (tick navigation, double-tap select, hold delete, auto-confirm) — reusable beyond PIN entry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evidence on whether off-screen entry reduces observable information — continuity with our CasePin motivation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2057400" cy="91440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4297680"/>
            <a:ext cx="1837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Procure &amp; build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62072" y="4297680"/>
            <a:ext cx="2057400" cy="9144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71800" y="4297680"/>
            <a:ext cx="1837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Firmware + app (2 strips)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84064" y="4297680"/>
            <a:ext cx="2057400" cy="9144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93792" y="4297680"/>
            <a:ext cx="1837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Pilot: gesture params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06056" y="4297680"/>
            <a:ext cx="2057400" cy="9144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15784" y="4297680"/>
            <a:ext cx="1837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study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28048" y="4297680"/>
            <a:ext cx="2057400" cy="914400"/>
          </a:xfrm>
          <a:prstGeom prst="rect">
            <a:avLst/>
          </a:prstGeom>
          <a:solidFill>
            <a:srgbClr val="F7EE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37776" y="4297680"/>
            <a:ext cx="1837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 &amp; paper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914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914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91440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1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408176"/>
            <a:ext cx="10881360" cy="4764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Ahn, Hwang, Yoon, Gim &amp; Ryu (2015). BandSense. CHI EA ’15. doi:10.1145/2702613.2725441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Brudy, Holz, Rädle, Wu, Houben, Klokmose &amp; Marquardt (2019). Cross-Device Taxonomy. CHI ’19. doi:10.1145/3290605.3300792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Funk, Sahami, Henze &amp; Schmidt (2014). Text entry on a touch-sensitive wristband. CHI EA ’14. doi:10.1145/2559206.2581143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 &amp; Staveland (1988). Development of NASA-TLX. In Human Mental Workload (Adv. in Psychology, vol. 52). North-Holland.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Khan, Hengartner &amp; Vogel (2018). Evaluating Attack and Defense Strategies for Smartphone PIN Shoulder Surfing. CHI ’18.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Kerber, Kiefer, Löchtefeld &amp; Krüger (2017). Opposite-Hand Smartwatch Interaction. MobileHCI ’17. doi:10.1145/3098279.3098542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Klamka, Horak &amp; Dachselt (2020). Watch+Strap. CHI ’20. doi:10.1145/3313831.3376199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Perrault, Lecolinet, Eagan &amp; Guiard (2013). WatchIt. CHI ’13. doi:10.1145/2470654.2466192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Petersen, Gellert &amp; Böhmer (2023). Rotary Knobs / Grasp Recognition. MUM ’23. doi:10.1145/3626705.3627797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Petersen, Reuter &amp; Böhmer (2026). MultiBand. CHI EA ’26. doi:10.1145/3772363.3799304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Reuter, Ünal, Kolodziejski Ribeiro, Petersen &amp; Böhmer (2025). MultiBezel. CHI EA ’25. doi:10.1145/3706599.3720156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Saviot, Brudy &amp; Houben (2017). WRISTBAND.IO. CHI EA ’17. doi:10.1145/3027063.3053132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Stanke, Simon, Löwen &amp; Rohs (2024). CaseTouch. MUM ’24. doi:10.1145/3701571.3701583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Wobbrock, Findlater, Gergle &amp; Higgins (2011). The Aligned Rank Transform. CHI ’11. doi:10.1145/1978942.1978963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100" dirty="0"/>
              <a:t>Wolf, F., Aviv, A. J., &amp; Kuber, R. (2018). </a:t>
            </a:r>
            <a:r>
              <a:rPr lang="en-US" sz="1100" i="1" dirty="0"/>
              <a:t>„It's all about the start": Classifying Eyes-Free Mobile Authentication Techniques.</a:t>
            </a:r>
            <a:r>
              <a:rPr lang="en-US" sz="1100" dirty="0"/>
              <a:t> Journal of Information Security and Applications. (arXiv:1805.12539)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Distributed Interactive Systems  ·  moxd lab  ·  BandPin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82186" cy="146304"/>
          </a:xfrm>
          <a:prstGeom prst="rect">
            <a:avLst/>
          </a:prstGeom>
          <a:solidFill>
            <a:srgbClr val="A81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6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BandPin — learning haptic, eyes-free PIN entry on smartwatch strips   ·   Rafael &amp; Mahyar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Microsoft Office PowerPoint</Application>
  <PresentationFormat>Widescreen</PresentationFormat>
  <Paragraphs>312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BandPin</dc:title>
  <dc:subject>PptxGenJS Presentation</dc:subject>
  <dc:creator>Rafael &amp; Mahyar</dc:creator>
  <cp:lastModifiedBy>Rafael Rodrigues Barros</cp:lastModifiedBy>
  <cp:revision>1</cp:revision>
  <dcterms:created xsi:type="dcterms:W3CDTF">2026-06-10T20:51:12Z</dcterms:created>
  <dcterms:modified xsi:type="dcterms:W3CDTF">2026-06-18T08:59:24Z</dcterms:modified>
</cp:coreProperties>
</file>